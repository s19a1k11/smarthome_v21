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0080"/>
            <a:ext cx="51905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DA291C"/>
                </a:solidFill>
                <a:latin typeface="Noto Sans SC"/>
                <a:ea typeface="Noto Sans SC"/>
              </a:rPr>
              <a:t>嵌入式系统 · 技术汇报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32688"/>
            <a:ext cx="1463040" cy="50292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786818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400" b="1">
                <a:solidFill>
                  <a:srgbClr val="1A1816"/>
                </a:solidFill>
                <a:latin typeface="Noto Sans SC"/>
                <a:ea typeface="Noto Sans SC"/>
              </a:rPr>
              <a:t>基于 STM32F103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400" b="1">
                <a:solidFill>
                  <a:srgbClr val="1A1816"/>
                </a:solidFill>
                <a:latin typeface="Noto Sans SC"/>
                <a:ea typeface="Noto Sans SC"/>
              </a:rPr>
              <a:t>的智能家居系统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51905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1A1816"/>
                </a:solidFill>
                <a:latin typeface="Noto Sans SC"/>
                <a:ea typeface="Noto Sans SC"/>
              </a:rPr>
              <a:t>ModBus RTU 多从机总线 + MQTT 云端接入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1A1816"/>
                </a:solidFill>
                <a:latin typeface="Noto Sans SC"/>
                <a:ea typeface="Noto Sans SC"/>
              </a:rPr>
              <a:t>主机轮询调度 · 从机通用化 · 边缘自动控制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7070674" y="5559552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0674" y="5687568"/>
            <a:ext cx="429806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2026.10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STM32F103ZET6 × ESP8266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ThingsCloud 云平台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86818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1A1816"/>
                </a:solidFill>
                <a:latin typeface="Noto Sans SC"/>
                <a:ea typeface="Noto Sans SC"/>
              </a:rPr>
              <a:t>一台主机，两台从机，一朵云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1408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29806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系统由主机统一调度：向下通过 RS485 半双工总线轮询从机，向上通过 ESP8266 以 MQTT 协议接入 ThingsCloud。</a:t>
            </a:r>
          </a:p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/>
            </a:r>
          </a:p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从机固件完全通用——三块板烧同一份源码，只改一个地址宏。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8143" y="242316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191" y="2395728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总线架构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660904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ModBus RTU，9600 8N1，主机轮询，从机只应答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8143" y="326440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3236976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云端接入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191" y="3502152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MQTT over TCP，17 个属性键，15 秒定时上报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8143" y="410565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191" y="4078224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边缘控制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4343400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SR602 人体感应 + 光照阈值，夜间自动开灯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3" y="494690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191" y="4919472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本地调试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191" y="5184648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串口 1 命令行，可模拟云端下发与硬件自检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02 /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OVERVIEW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array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0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Noto Sans SC"/>
                <a:ea typeface="Noto Sans SC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77824"/>
            <a:ext cx="1097280" cy="41148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2194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0" b="1">
                <a:solidFill>
                  <a:srgbClr val="E4DFD4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608312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A1816"/>
                </a:solidFill>
                <a:latin typeface="Noto Sans SC"/>
                <a:ea typeface="Noto Sans SC"/>
              </a:rPr>
              <a:t>系统架构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0128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027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557016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三层结构：云端 / 主机 / 从机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050791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主机是唯一的协议桥接点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544568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从机固件通用化设计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45352"/>
            <a:ext cx="3405530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03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355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SECTION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87607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816"/>
                </a:solidFill>
                <a:latin typeface="Noto Sans SC"/>
                <a:ea typeface="Noto Sans SC"/>
              </a:rPr>
              <a:t>系统架构</a:t>
            </a:r>
          </a:p>
        </p:txBody>
      </p:sp>
      <p:pic>
        <p:nvPicPr>
          <p:cNvPr id="6" name="Picture 5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8448"/>
            <a:ext cx="8723376" cy="4361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569671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51576"/>
            <a:ext cx="420662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主机同时承担两个角色：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对下是 ModBus 主站，负责轮询两台从机；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143" y="5751576"/>
            <a:ext cx="51905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对上是 MQTT 客户端，负责与云端交换属性。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从机不主动发起通信，只响应主机的读/写请求——这消除了半双工总线上的冲突可能。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04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ARCHITECTURE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87607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816"/>
                </a:solidFill>
                <a:latin typeface="Noto Sans SC"/>
                <a:ea typeface="Noto Sans SC"/>
              </a:rPr>
              <a:t>协议栈</a:t>
            </a:r>
          </a:p>
        </p:txBody>
      </p:sp>
      <p:pic>
        <p:nvPicPr>
          <p:cNvPr id="6" name="Picture 5" descr="fig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8448"/>
            <a:ext cx="8723376" cy="4361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569671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51576"/>
            <a:ext cx="420662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两层协议各司其职：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云端用 MQTT 承载 JSON 属性，天然支持订阅/发布与断线重连；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143" y="5751576"/>
            <a:ext cx="51905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总线用 ModBus RTU 承载寄存器，帧结构紧凑、抗干扰强。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主机在两者之间做映射：寄存器地址 ↔ 属性键名。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05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PROTOCOL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array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0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Noto Sans SC"/>
                <a:ea typeface="Noto Sans SC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77824"/>
            <a:ext cx="1097280" cy="41148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2194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0" b="1">
                <a:solidFill>
                  <a:srgbClr val="E4DFD4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608312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A1816"/>
                </a:solidFill>
                <a:latin typeface="Noto Sans SC"/>
                <a:ea typeface="Noto Sans SC"/>
              </a:rPr>
              <a:t>关键问题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0128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027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557016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帧间时序：一个协议违规引发的连锁故障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050791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内存边界：栈溢出与数组越界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544568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失败方向：让异常状态安全收敛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45352"/>
            <a:ext cx="3405530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06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355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SECTION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87607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816"/>
                </a:solidFill>
                <a:latin typeface="Noto Sans SC"/>
                <a:ea typeface="Noto Sans SC"/>
              </a:rPr>
              <a:t>帧间时序：T3.5 静默</a:t>
            </a:r>
          </a:p>
        </p:txBody>
      </p:sp>
      <p:pic>
        <p:nvPicPr>
          <p:cNvPr id="6" name="Picture 5" descr="fig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8448"/>
            <a:ext cx="8723376" cy="4361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569671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51576"/>
            <a:ext cx="420662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现象：一台从机正常，另一台持续超时。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根因：主机收到应答后立刻发下一帧，间隔小于 T3.5（3.65ms）。其它从机的判帧定时器未溢出，把两帧当成一帧，CRC 必然失败。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143" y="5751576"/>
            <a:ext cx="51905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修复：每笔事务前插入 5ms 静默，留 37% 余量。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07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TIMING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876071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1A1816"/>
                </a:solidFill>
                <a:latin typeface="Noto Sans SC"/>
                <a:ea typeface="Noto Sans SC"/>
              </a:rPr>
              <a:t>内存边界：两个隐蔽的越界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1408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29806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A291C"/>
                </a:solidFill>
                <a:latin typeface="Noto Sans SC"/>
                <a:ea typeface="Noto Sans SC"/>
              </a:rPr>
              <a:t>栈溢出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调用链 Cloud_Upload_All → MQTT_Publish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合计占用 1152 字节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而栈只有 1024 字节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—— 超出 128 字节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8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修复：大缓冲移到静态区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实测降至 208 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0016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同时把栈扩到 2048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作为第二层保险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143" y="2468880"/>
            <a:ext cx="429806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A291C"/>
                </a:solidFill>
                <a:latin typeface="Noto Sans SC"/>
                <a:ea typeface="Noto Sans SC"/>
              </a:rPr>
              <a:t>数组越界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3" y="2834640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2999232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regs[OUT_REG_COUNT] 只有 3 个元素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却按 4 个读取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8143" y="3566160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越界踩到相邻变量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自检结果随机 PASS/FAIL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3" y="4133088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修复：按最大区段开数组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改为 SYS_REG_COUNT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3" y="4700016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由编译器警告发现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gcc 语法检查未能捕获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08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MEMORY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0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Noto Sans SC"/>
                <a:ea typeface="Noto Sans SC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77824"/>
            <a:ext cx="1097280" cy="41148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2194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0" b="1">
                <a:solidFill>
                  <a:srgbClr val="E4DFD4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608312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A1816"/>
                </a:solidFill>
                <a:latin typeface="Noto Sans SC"/>
                <a:ea typeface="Noto Sans SC"/>
              </a:rPr>
              <a:t>从机通用化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0128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027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557016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一份源码，三块板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050791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地址只改一个宏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544568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编译期拦截非法配置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45352"/>
            <a:ext cx="3405530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09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355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SECTION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GENERIC SLAVE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86818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1A1816"/>
                </a:solidFill>
                <a:latin typeface="Noto Sans SC"/>
                <a:ea typeface="Noto Sans SC"/>
              </a:rPr>
              <a:t>改一个宏，就是另一台从机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1408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29806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从机固件不含任何与具体编号绑定的逻辑。</a:t>
            </a:r>
          </a:p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/>
            </a:r>
          </a:p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三块板烧录同一份源码，唯一的区别是 ModBus.h 里的一行地址宏。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8143" y="242316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191" y="2395728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地址宏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660904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#define MODBUS_SLAVE_ADDR 0x01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8143" y="326440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3236976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编译期校验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191" y="3502152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超出 1..3 范围直接 #error 中止编译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8143" y="410565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191" y="4078224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主机侧配置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4343400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SLAVE_NUM 与实际接线数量严格一致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3" y="494690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DA291C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191" y="4919472"/>
            <a:ext cx="42980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地址表生成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191" y="5184648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#if 分支保证初值个数与数组长度匹配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10 /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GENERIC SLAVE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array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0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Noto Sans SC"/>
                <a:ea typeface="Noto Sans SC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77824"/>
            <a:ext cx="1097280" cy="41148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2194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0" b="1">
                <a:solidFill>
                  <a:srgbClr val="E4DFD4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608312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1A1816"/>
                </a:solidFill>
                <a:latin typeface="Noto Sans SC"/>
                <a:ea typeface="Noto Sans SC"/>
              </a:rPr>
              <a:t>运行数据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0128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027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557016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实测 20 组采样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050791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两台从机持续在线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A291C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544568"/>
            <a:ext cx="6083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816"/>
                </a:solidFill>
                <a:latin typeface="Noto Sans SC"/>
                <a:ea typeface="Noto Sans SC"/>
              </a:rPr>
              <a:t>数据完整上报云端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45352"/>
            <a:ext cx="3405530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11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3550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SECTION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87607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816"/>
                </a:solidFill>
                <a:latin typeface="Noto Sans SC"/>
                <a:ea typeface="Noto Sans SC"/>
              </a:rPr>
              <a:t>实测运行数据</a:t>
            </a:r>
          </a:p>
        </p:txBody>
      </p:sp>
      <p:pic>
        <p:nvPicPr>
          <p:cNvPr id="6" name="Picture 5" descr="fig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8448"/>
            <a:ext cx="8723376" cy="4361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569671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51576"/>
            <a:ext cx="420662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数据来自 2026-10-25 的连续运行日志。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光照读数在 3712–3720 之间小幅波动，符合室内自然光特征；温度稳定在 24.2–24.8℃，无跳变。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143" y="5751576"/>
            <a:ext cx="51905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两台从机在线率 100%，未出现 CRC 错误或超时。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12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MEASURED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86818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1A1816"/>
                </a:solidFill>
                <a:latin typeface="Noto Sans SC"/>
                <a:ea typeface="Noto Sans SC"/>
              </a:rPr>
              <a:t>工程指标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1408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4215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A291C"/>
                </a:solidFill>
                <a:latin typeface="Inter"/>
                <a:ea typeface="Inter"/>
              </a:rPr>
              <a:t>259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2421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自动化测试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67912"/>
            <a:ext cx="24215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四轮仿真回归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全部通过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551" y="2697480"/>
            <a:ext cx="24215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A291C"/>
                </a:solidFill>
                <a:latin typeface="Inter"/>
                <a:ea typeface="Inter"/>
              </a:rPr>
              <a:t>28.8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551" y="3566160"/>
            <a:ext cx="2421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固件体积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551" y="3867912"/>
            <a:ext cx="24215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KB，含 LCD 驱动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上限 32KB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143" y="2697480"/>
            <a:ext cx="24215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A291C"/>
                </a:solidFill>
                <a:latin typeface="Inter"/>
                <a:ea typeface="Inter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8143" y="3566160"/>
            <a:ext cx="2421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云端属性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8143" y="3867912"/>
            <a:ext cx="24215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温度/湿度/光照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灯/在线/异常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5735" y="2697480"/>
            <a:ext cx="24215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A291C"/>
                </a:solidFill>
                <a:latin typeface="Inter"/>
                <a:ea typeface="Inter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5735" y="3566160"/>
            <a:ext cx="2421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816"/>
                </a:solidFill>
                <a:latin typeface="Noto Sans SC"/>
                <a:ea typeface="Noto Sans SC"/>
              </a:rPr>
              <a:t>毫秒静默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5735" y="3867912"/>
            <a:ext cx="24215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每帧间隔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大于 T3.5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13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METRICS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621792"/>
            <a:ext cx="42980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876071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1A1816"/>
                </a:solidFill>
                <a:latin typeface="Noto Sans SC"/>
                <a:ea typeface="Noto Sans SC"/>
              </a:rPr>
              <a:t>可调试性：把黑盒打开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1408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29806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A291C"/>
                </a:solidFill>
                <a:latin typeface="Noto Sans SC"/>
                <a:ea typeface="Noto Sans SC"/>
              </a:rPr>
              <a:t>串口命令行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@stat    两台从机完整状态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@sr602   人体感应与夜晚判定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@lcd     屏幕三原色自检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@esp     主动探测 ESP8266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         打印模块原始回包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8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@log on  逐帧 ModBus 日志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         显示 TX/RX 原始字节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0016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设计原则：解析在主循环，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中断只搬运字节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143" y="2468880"/>
            <a:ext cx="429806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A291C"/>
                </a:solidFill>
                <a:latin typeface="Noto Sans SC"/>
                <a:ea typeface="Noto Sans SC"/>
              </a:rPr>
              <a:t>故障可观测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3" y="2834640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2999232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超时日志限流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同一从机 30 秒一条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8143" y="3566160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写失败带返回值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stat=1 超时 / 2 CRC / 6 拒绝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3" y="4133088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键名不匹配时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打印期望键名列表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3" y="4700016"/>
            <a:ext cx="4298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失败方向安全收敛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1A1816"/>
                </a:solidFill>
                <a:latin typeface="Noto Sans SC"/>
                <a:ea typeface="Noto Sans SC"/>
              </a:rPr>
              <a:t>模块未接 → 判无人而非有人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Inter"/>
                <a:ea typeface="Inter"/>
              </a:rPr>
              <a:t>14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E6960"/>
                </a:solidFill>
                <a:latin typeface="Noto Sans SC"/>
                <a:ea typeface="Noto Sans SC"/>
              </a:rPr>
              <a:t>DEBUG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00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A291C"/>
                </a:solidFill>
                <a:latin typeface="Inter"/>
                <a:ea typeface="Inter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2194560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78681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E8E4DC"/>
                </a:solidFill>
                <a:latin typeface="Noto Sans SC"/>
                <a:ea typeface="Noto Sans SC"/>
              </a:rPr>
              <a:t>让信息自己说话。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E8E4DC"/>
                </a:solidFill>
                <a:latin typeface="Noto Sans SC"/>
                <a:ea typeface="Noto Sans SC"/>
              </a:rPr>
              <a:t>不需要装饰。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41648"/>
            <a:ext cx="608312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300" b="0">
                <a:solidFill>
                  <a:srgbClr val="C8C4BA"/>
                </a:solidFill>
                <a:latin typeface="Noto Sans SC"/>
                <a:ea typeface="Noto Sans SC"/>
              </a:rPr>
              <a:t>瑞士国际主义风格的核心主张，也是这套系统的设计取向。</a:t>
            </a:r>
          </a:p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300" b="0">
                <a:solidFill>
                  <a:srgbClr val="C8C4BA"/>
                </a:solidFill>
                <a:latin typeface="Noto Sans SC"/>
                <a:ea typeface="Noto Sans SC"/>
              </a:rPr>
              <a:t>日志不堆砌形容词，只打印原始字节和确定的返回值。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45352"/>
            <a:ext cx="10545775" cy="9525"/>
          </a:xfrm>
          <a:prstGeom prst="rect">
            <a:avLst/>
          </a:prstGeom>
          <a:solidFill>
            <a:srgbClr val="4A4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C8C4BA"/>
                </a:solidFill>
                <a:latin typeface="Inter"/>
                <a:ea typeface="Inter"/>
              </a:rPr>
              <a:t>15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3204" y="6355080"/>
            <a:ext cx="34055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C8C4BA"/>
                </a:solidFill>
                <a:latin typeface="Noto Sans SC"/>
                <a:ea typeface="Noto Sans SC"/>
              </a:rPr>
              <a:t>PRINCIPLE</a:t>
            </a:r>
          </a:p>
        </p:txBody>
      </p:sp>
    </p:spTree>
  </p:cSld>
  <p:clrMapOvr>
    <a:masterClrMapping/>
  </p:clrMapOvr>
  <p:transition spd="slow" advClick="1">
    <p:dissolv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1905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DA291C"/>
                </a:solidFill>
                <a:latin typeface="Noto Sans SC"/>
                <a:ea typeface="Noto Sans SC"/>
              </a:rPr>
              <a:t>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1463040" cy="50292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86818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600" b="1">
                <a:solidFill>
                  <a:srgbClr val="1A1816"/>
                </a:solidFill>
                <a:latin typeface="Noto Sans SC"/>
                <a:ea typeface="Noto Sans SC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51905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>
                <a:solidFill>
                  <a:srgbClr val="6E6960"/>
                </a:solidFill>
                <a:latin typeface="Noto Sans SC"/>
                <a:ea typeface="Noto Sans SC"/>
              </a:rPr>
              <a:t>项目源码与文档见 D:\K_Work\SmartHome_v21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0674" y="5559552"/>
            <a:ext cx="4298061" cy="9525"/>
          </a:xfrm>
          <a:prstGeom prst="rect">
            <a:avLst/>
          </a:prstGeom>
          <a:solidFill>
            <a:srgbClr val="C6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70674" y="5687568"/>
            <a:ext cx="429806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STM32F103ZET6 × ESP8266 × ModBus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950" b="0">
                <a:solidFill>
                  <a:srgbClr val="6E6960"/>
                </a:solidFill>
                <a:latin typeface="Noto Sans SC"/>
                <a:ea typeface="Noto Sans SC"/>
              </a:rPr>
              <a:t>2026.10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